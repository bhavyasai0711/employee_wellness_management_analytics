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0800000">
            <a:off x="8229600" y="0"/>
            <a:ext cx="3959352" cy="6858000"/>
          </a:xfrm>
          <a:prstGeom prst="rtTriangl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48697" y="2108036"/>
            <a:ext cx="777240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Employee Wellness Management Analytics</a:t>
            </a:r>
          </a:p>
          <a:p>
            <a:pPr>
              <a:spcBef>
                <a:spcPts val="800"/>
              </a:spcBef>
              <a:defRPr sz="1800">
                <a:solidFill>
                  <a:srgbClr val="0EA5E9"/>
                </a:solidFill>
                <a:latin typeface="Segoe UI"/>
              </a:defRPr>
            </a:pPr>
            <a:r>
              <a:rPr dirty="0"/>
              <a:t>AI &amp; ML Powered Corporate Health Diagnostics Portal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04222" y="176990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Project Overview</a:t>
            </a:r>
            <a:r>
              <a:rPr sz="900" dirty="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Concluion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463040"/>
            <a:ext cx="4389120" cy="24895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645920"/>
            <a:ext cx="4023360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rPr lang="en-IN" b="1" dirty="0">
                <a:solidFill>
                  <a:srgbClr val="10B981"/>
                </a:solidFill>
                <a:latin typeface="Segoe UI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Lack of a centralized system to monitor employee health and wellness.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Difficulty in identifying health risks and providing personalized wellness support.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Limited real-time insights for HR to improve employee well-being and productivity.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493008"/>
            <a:ext cx="4389120" cy="2686173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3769660"/>
            <a:ext cx="4023360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The Solution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AI-based Employee Wellness Monitoring and Health Management.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Personalized Wellness Recommendations with Risk Prediction and Sentiment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/>
              <a:t>Interactive HR Analytics Dashboard with an AI Wellness Chatbot for Employee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6367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025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System Architecture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System Architecture &amp; Technology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463040"/>
            <a:ext cx="2834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819656"/>
            <a:ext cx="2651760" cy="224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2340"/>
                </a:solidFill>
                <a:latin typeface="Segoe UI"/>
              </a:defRPr>
            </a:pPr>
            <a:r>
              <a:rPr dirty="0"/>
              <a:t>Backend &amp;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1E293B"/>
                </a:solidFill>
              </a:rPr>
              <a:t>Backend: </a:t>
            </a:r>
            <a:r>
              <a:rPr lang="en-IN" sz="1600" dirty="0">
                <a:solidFill>
                  <a:srgbClr val="1E293B"/>
                </a:solidFill>
              </a:rPr>
              <a:t>Python Flask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1E293B"/>
                </a:solidFill>
              </a:rPr>
              <a:t>Database: </a:t>
            </a:r>
            <a:r>
              <a:rPr lang="en-IN" sz="1600" dirty="0">
                <a:solidFill>
                  <a:srgbClr val="1E293B"/>
                </a:solidFill>
              </a:rPr>
              <a:t>SQLite with </a:t>
            </a:r>
            <a:r>
              <a:rPr lang="en-IN" sz="1600" dirty="0" err="1">
                <a:solidFill>
                  <a:srgbClr val="1E293B"/>
                </a:solidFill>
              </a:rPr>
              <a:t>SQLAlchemy</a:t>
            </a:r>
            <a:r>
              <a:rPr lang="en-IN" sz="1600" dirty="0">
                <a:solidFill>
                  <a:srgbClr val="1E293B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1E293B"/>
                </a:solidFill>
              </a:rPr>
              <a:t>Task Processing: </a:t>
            </a:r>
            <a:r>
              <a:rPr lang="en-IN" sz="1600" dirty="0">
                <a:solidFill>
                  <a:srgbClr val="1E293B"/>
                </a:solidFill>
              </a:rPr>
              <a:t>Handles user requests and background tasks efficiently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463040"/>
            <a:ext cx="2834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79" y="1645920"/>
            <a:ext cx="265176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2340"/>
                </a:solidFill>
                <a:latin typeface="Segoe UI"/>
              </a:defRPr>
            </a:pPr>
            <a:r>
              <a:rPr dirty="0"/>
              <a:t>ML &amp; NLP Engine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lang="en-IN" sz="1600" b="1" dirty="0"/>
              <a:t>Data Validation (Isolation Forest):</a:t>
            </a:r>
            <a:r>
              <a:rPr lang="en-IN" sz="1600" dirty="0"/>
              <a:t> Detects unusual or incorrect employee data automatically.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rPr lang="en-IN" sz="1600" dirty="0"/>
              <a:t>• </a:t>
            </a:r>
            <a:r>
              <a:rPr lang="en-IN" sz="1600" b="1" dirty="0">
                <a:solidFill>
                  <a:srgbClr val="1E293B"/>
                </a:solidFill>
              </a:rPr>
              <a:t>Risk Prediction (Decision Tree, Random Forest, </a:t>
            </a:r>
            <a:r>
              <a:rPr lang="en-IN" sz="1600" b="1" dirty="0" err="1">
                <a:solidFill>
                  <a:srgbClr val="1E293B"/>
                </a:solidFill>
              </a:rPr>
              <a:t>XGBoost</a:t>
            </a:r>
            <a:r>
              <a:rPr lang="en-IN" sz="1600" b="1" dirty="0">
                <a:solidFill>
                  <a:srgbClr val="1E293B"/>
                </a:solidFill>
              </a:rPr>
              <a:t> &amp; Neural Networks): </a:t>
            </a:r>
            <a:r>
              <a:rPr lang="en-IN" sz="1600" dirty="0">
                <a:solidFill>
                  <a:srgbClr val="1E293B"/>
                </a:solidFill>
              </a:rPr>
              <a:t>Predicts employee health risks such as stress, burnout, and obesity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rPr lang="en-IN" sz="1600" dirty="0"/>
              <a:t>• </a:t>
            </a:r>
            <a:r>
              <a:rPr lang="en-IN" sz="1600" b="1" dirty="0">
                <a:solidFill>
                  <a:srgbClr val="1E293B"/>
                </a:solidFill>
              </a:rPr>
              <a:t>Sentiment Analysis (</a:t>
            </a:r>
            <a:r>
              <a:rPr lang="en-IN" sz="1600" b="1" dirty="0" err="1">
                <a:solidFill>
                  <a:srgbClr val="1E293B"/>
                </a:solidFill>
              </a:rPr>
              <a:t>TextBlob</a:t>
            </a:r>
            <a:r>
              <a:rPr lang="en-IN" sz="1600" b="1" dirty="0">
                <a:solidFill>
                  <a:srgbClr val="1E293B"/>
                </a:solidFill>
              </a:rPr>
              <a:t>): </a:t>
            </a:r>
            <a:r>
              <a:rPr lang="en-IN" sz="1600" dirty="0" err="1">
                <a:solidFill>
                  <a:srgbClr val="1E293B"/>
                </a:solidFill>
              </a:rPr>
              <a:t>Analyzes</a:t>
            </a:r>
            <a:r>
              <a:rPr lang="en-IN" sz="1600" dirty="0">
                <a:solidFill>
                  <a:srgbClr val="1E293B"/>
                </a:solidFill>
              </a:rPr>
              <a:t> employee feedback to identify positive, negative, or neutral sentiments</a:t>
            </a:r>
            <a:r>
              <a:rPr lang="en-IN" sz="1600" b="1" dirty="0">
                <a:solidFill>
                  <a:srgbClr val="1E293B"/>
                </a:solidFill>
              </a:rPr>
              <a:t>.</a:t>
            </a:r>
            <a:endParaRPr sz="1600" b="1" dirty="0">
              <a:solidFill>
                <a:srgbClr val="1E293B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9680" y="1463040"/>
            <a:ext cx="2834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19" y="1645920"/>
            <a:ext cx="265176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Frontend &amp; AI</a:t>
            </a:r>
          </a:p>
          <a:p>
            <a:pPr indent="-285750">
              <a:spcAft>
                <a:spcPts val="8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</a:defRPr>
            </a:pPr>
            <a:r>
              <a:rPr lang="en-IN" sz="1600" b="1" dirty="0">
                <a:solidFill>
                  <a:srgbClr val="1E293B"/>
                </a:solidFill>
              </a:rPr>
              <a:t>Frontend: </a:t>
            </a:r>
            <a:r>
              <a:rPr lang="en-IN" sz="1600" dirty="0">
                <a:solidFill>
                  <a:srgbClr val="1E293B"/>
                </a:solidFill>
              </a:rPr>
              <a:t>HTML, CSS, JavaScript with Chart.js for interactive dashboards.</a:t>
            </a:r>
          </a:p>
          <a:p>
            <a:pPr indent="-285750">
              <a:spcAft>
                <a:spcPts val="8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</a:defRPr>
            </a:pPr>
            <a:r>
              <a:rPr lang="en-IN" sz="1600" b="1" dirty="0">
                <a:solidFill>
                  <a:srgbClr val="1E293B"/>
                </a:solidFill>
              </a:rPr>
              <a:t>AI Chatbot: </a:t>
            </a:r>
            <a:r>
              <a:rPr lang="en-IN" sz="1600" dirty="0" err="1">
                <a:solidFill>
                  <a:srgbClr val="1E293B"/>
                </a:solidFill>
              </a:rPr>
              <a:t>Ollama</a:t>
            </a:r>
            <a:r>
              <a:rPr lang="en-IN" sz="1600" b="1" dirty="0">
                <a:solidFill>
                  <a:srgbClr val="1E293B"/>
                </a:solidFill>
              </a:rPr>
              <a:t> </a:t>
            </a:r>
            <a:r>
              <a:rPr lang="en-IN" sz="1600" dirty="0">
                <a:solidFill>
                  <a:srgbClr val="1E293B"/>
                </a:solidFill>
              </a:rPr>
              <a:t>with the Qwen2.5 model for intelligent responses.</a:t>
            </a:r>
          </a:p>
          <a:p>
            <a:pPr indent="-285750">
              <a:spcAft>
                <a:spcPts val="8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</a:defRPr>
            </a:pPr>
            <a:r>
              <a:rPr lang="en-IN" sz="1600" b="1" dirty="0">
                <a:solidFill>
                  <a:srgbClr val="1E293B"/>
                </a:solidFill>
              </a:rPr>
              <a:t>Communication: </a:t>
            </a:r>
            <a:r>
              <a:rPr lang="en-IN" sz="1600" dirty="0">
                <a:solidFill>
                  <a:srgbClr val="1E293B"/>
                </a:solidFill>
              </a:rPr>
              <a:t>REST API for seamless connection between the application and AI model.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AD168A-E40A-26B2-67F7-1570814E2E47}"/>
              </a:ext>
            </a:extLst>
          </p:cNvPr>
          <p:cNvSpPr txBox="1"/>
          <p:nvPr/>
        </p:nvSpPr>
        <p:spPr>
          <a:xfrm>
            <a:off x="182880" y="522536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CB1A30-5150-4BDB-242D-51EF20478036}"/>
              </a:ext>
            </a:extLst>
          </p:cNvPr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1AAE7-DE55-2547-8443-A3E7AA4F25FF}"/>
              </a:ext>
            </a:extLst>
          </p:cNvPr>
          <p:cNvSpPr txBox="1"/>
          <p:nvPr/>
        </p:nvSpPr>
        <p:spPr>
          <a:xfrm>
            <a:off x="182880" y="522536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2E462-060B-200B-5617-9A589D9209FB}"/>
              </a:ext>
            </a:extLst>
          </p:cNvPr>
          <p:cNvSpPr txBox="1"/>
          <p:nvPr/>
        </p:nvSpPr>
        <p:spPr>
          <a:xfrm>
            <a:off x="182880" y="16367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9AC6F-3B4D-7CCB-888D-F957F1BAB03A}"/>
              </a:ext>
            </a:extLst>
          </p:cNvPr>
          <p:cNvSpPr txBox="1"/>
          <p:nvPr/>
        </p:nvSpPr>
        <p:spPr>
          <a:xfrm>
            <a:off x="182880" y="2002536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rPr lang="en-US" dirty="0"/>
              <a:t>Login Page </a:t>
            </a:r>
            <a:endParaRPr sz="900" dirty="0">
              <a:solidFill>
                <a:srgbClr val="0EA5E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711A5-838A-AA6B-9043-FB18B26ED038}"/>
              </a:ext>
            </a:extLst>
          </p:cNvPr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BA470-F4C3-A812-3BA4-00EF1C36D1B6}"/>
              </a:ext>
            </a:extLst>
          </p:cNvPr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7E4998-C2B1-C463-8E8F-DC47F183C669}"/>
              </a:ext>
            </a:extLst>
          </p:cNvPr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249293-55DB-9D94-4BFF-EBF9EF66B7AA}"/>
              </a:ext>
            </a:extLst>
          </p:cNvPr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430F84-063B-FF9D-4D9C-CB0C80F7CE84}"/>
              </a:ext>
            </a:extLst>
          </p:cNvPr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846BAA-E921-21B5-0D05-E310023A9883}"/>
              </a:ext>
            </a:extLst>
          </p:cNvPr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1DB855-4A81-6020-9B2D-72D879BC34E2}"/>
              </a:ext>
            </a:extLst>
          </p:cNvPr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2AEC9A-6315-5368-40BE-02255B93E3CE}"/>
              </a:ext>
            </a:extLst>
          </p:cNvPr>
          <p:cNvSpPr txBox="1"/>
          <p:nvPr/>
        </p:nvSpPr>
        <p:spPr>
          <a:xfrm>
            <a:off x="2560320" y="1136731"/>
            <a:ext cx="332920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Employee &amp; Admin Authentication</a:t>
            </a:r>
            <a:r>
              <a:rPr lang="en-IN" dirty="0"/>
              <a:t> – Separate login portals with role-based access.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Create Account</a:t>
            </a:r>
            <a:r>
              <a:rPr lang="en-IN" dirty="0"/>
              <a:t> – Secure employee registration with duplicate email validation.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Login Security</a:t>
            </a:r>
            <a:r>
              <a:rPr lang="en-IN" dirty="0"/>
              <a:t> – Account lockout after multiple failed login attempts.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Password Recovery</a:t>
            </a:r>
            <a:r>
              <a:rPr lang="en-IN" dirty="0"/>
              <a:t> – OTP-based password reset and recovery.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Secure Sessions</a:t>
            </a:r>
            <a:r>
              <a:rPr lang="en-IN" dirty="0"/>
              <a:t> – </a:t>
            </a:r>
            <a:r>
              <a:rPr lang="en-IN" dirty="0" err="1"/>
              <a:t>Bcrypt</a:t>
            </a:r>
            <a:r>
              <a:rPr lang="en-IN" dirty="0"/>
              <a:t> password encryption and protected session management.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DB9A09-CBF7-D5A8-0D93-C01C282D6D3C}"/>
              </a:ext>
            </a:extLst>
          </p:cNvPr>
          <p:cNvSpPr txBox="1"/>
          <p:nvPr/>
        </p:nvSpPr>
        <p:spPr>
          <a:xfrm>
            <a:off x="2560320" y="515260"/>
            <a:ext cx="61205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Module 1: Security Infrastructure and Login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BF890EC-FAC7-FB59-9DE1-4D978604F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5" y="2002535"/>
            <a:ext cx="6021276" cy="361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95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1. Health Data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1. Employee Health Data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5517" y="1463039"/>
            <a:ext cx="8236483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72C7A4-F8A8-18C0-5329-CB9B19BF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1" y="727588"/>
            <a:ext cx="8952732" cy="564254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3241EBE-C178-72FC-1060-640EC6DFFE38}"/>
              </a:ext>
            </a:extLst>
          </p:cNvPr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2. Risk Prediction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2. AI-Based Wellness Risk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849257"/>
            <a:ext cx="7818612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rPr dirty="0"/>
              <a:t>ML Classification Models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300">
                <a:solidFill>
                  <a:srgbClr val="1E293B"/>
                </a:solidFill>
              </a:defRPr>
            </a:pPr>
            <a:r>
              <a:rPr lang="en-IN" sz="1700" b="1" dirty="0"/>
              <a:t>Decision Tree &amp; Random Forest:</a:t>
            </a:r>
            <a:r>
              <a:rPr lang="en-IN" sz="1700" dirty="0"/>
              <a:t> Predict employee health risks using decision-based models.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300">
                <a:solidFill>
                  <a:srgbClr val="1E293B"/>
                </a:solidFill>
              </a:defRPr>
            </a:pPr>
            <a:r>
              <a:rPr lang="en-IN" sz="1700" dirty="0"/>
              <a:t> </a:t>
            </a:r>
            <a:r>
              <a:rPr lang="en-IN" sz="1700" b="1" dirty="0" err="1"/>
              <a:t>XGBoost</a:t>
            </a:r>
            <a:r>
              <a:rPr lang="en-IN" sz="1700" b="1" dirty="0"/>
              <a:t>:</a:t>
            </a:r>
            <a:r>
              <a:rPr lang="en-IN" sz="1700" dirty="0"/>
              <a:t> Improves prediction accuracy for wellness risk analysis.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300">
                <a:solidFill>
                  <a:srgbClr val="1E293B"/>
                </a:solidFill>
              </a:defRPr>
            </a:pPr>
            <a:r>
              <a:rPr lang="en-IN" sz="1700" dirty="0"/>
              <a:t> </a:t>
            </a:r>
            <a:r>
              <a:rPr lang="en-IN" sz="1700" b="1" dirty="0"/>
              <a:t>Neural Network (MLP):</a:t>
            </a:r>
            <a:r>
              <a:rPr lang="en-IN" sz="1700" dirty="0"/>
              <a:t> Learns complex health patterns to provide better risk predictions.</a:t>
            </a:r>
            <a:endParaRPr sz="17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F7C27E-C8C3-2888-A9F2-C3A743615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2" y="2798064"/>
            <a:ext cx="6747508" cy="37993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ABDB4D-1646-E8C3-5F80-46BDF4C17C0A}"/>
              </a:ext>
            </a:extLst>
          </p:cNvPr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3. Recommendations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3. Personalized Recommendation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280160"/>
            <a:ext cx="4389120" cy="5212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3346" y="3545928"/>
            <a:ext cx="4023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Generative Wellness Coach</a:t>
            </a:r>
          </a:p>
          <a:p>
            <a:r>
              <a:rPr lang="en-IN" b="1" dirty="0"/>
              <a:t>AI Health Assistant:</a:t>
            </a:r>
            <a:r>
              <a:rPr lang="en-IN" dirty="0"/>
              <a:t> Uses the Qwen AI model to </a:t>
            </a:r>
            <a:r>
              <a:rPr lang="en-IN" dirty="0" err="1"/>
              <a:t>analyze</a:t>
            </a:r>
            <a:r>
              <a:rPr lang="en-IN" dirty="0"/>
              <a:t> employee health data.</a:t>
            </a:r>
          </a:p>
          <a:p>
            <a:r>
              <a:rPr lang="en-IN" b="1" dirty="0"/>
              <a:t>Personalized Recommendations:</a:t>
            </a:r>
            <a:r>
              <a:rPr lang="en-IN" dirty="0"/>
              <a:t> Suggests workout plans, diet tips, yoga, and wellness advice.</a:t>
            </a:r>
          </a:p>
          <a:p>
            <a:r>
              <a:rPr lang="en-IN" b="1" dirty="0"/>
              <a:t>Interactive Responses:</a:t>
            </a:r>
            <a:r>
              <a:rPr lang="en-IN" dirty="0"/>
              <a:t> Displays recommendations in a clear and user-friendly format.</a:t>
            </a:r>
          </a:p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8711A0-09EF-5785-F070-69B9A23D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226" y="1901952"/>
            <a:ext cx="4389120" cy="38676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76CA52-7AE4-698B-78E9-B91F98080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06" y="596179"/>
            <a:ext cx="4514307" cy="31556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2619B1-21BD-4760-D6D2-2A83CD6D53BC}"/>
              </a:ext>
            </a:extLst>
          </p:cNvPr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4. Sentiment Logs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4. Mental Health &amp; Sentiment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1249102"/>
            <a:ext cx="4389120" cy="263887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1481143"/>
            <a:ext cx="402336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rPr dirty="0"/>
              <a:t>NLP &amp; Sentiment Scoring</a:t>
            </a:r>
          </a:p>
          <a:p>
            <a:r>
              <a:rPr lang="en-IN" b="1" dirty="0"/>
              <a:t>Sentiment Analysis: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employee feedback to identify stress and emotions. </a:t>
            </a:r>
          </a:p>
          <a:p>
            <a:r>
              <a:rPr lang="en-IN" b="1" dirty="0"/>
              <a:t>Risk Detection:</a:t>
            </a:r>
            <a:r>
              <a:rPr lang="en-IN" dirty="0"/>
              <a:t> Detects signs of anxiety, burnout, and negative emotions. </a:t>
            </a:r>
          </a:p>
          <a:p>
            <a:r>
              <a:rPr lang="en-IN" b="1" dirty="0"/>
              <a:t>Mood Tracking:</a:t>
            </a:r>
            <a:r>
              <a:rPr lang="en-IN" dirty="0"/>
              <a:t> Monitors employee mood trends over time.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2C2C5C-7602-4759-369F-A2201D96C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40852"/>
            <a:ext cx="4754880" cy="3096077"/>
          </a:xfrm>
          <a:prstGeom prst="rect">
            <a:avLst/>
          </a:prstGeom>
        </p:spPr>
      </p:pic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E0E23C64-753F-C9ED-49D1-2FFDFDEB8EB1}"/>
              </a:ext>
            </a:extLst>
          </p:cNvPr>
          <p:cNvSpPr/>
          <p:nvPr/>
        </p:nvSpPr>
        <p:spPr>
          <a:xfrm>
            <a:off x="2834639" y="4130386"/>
            <a:ext cx="6633825" cy="244739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8428D5-48FC-7817-9274-006CEC34A9A6}"/>
              </a:ext>
            </a:extLst>
          </p:cNvPr>
          <p:cNvSpPr txBox="1"/>
          <p:nvPr/>
        </p:nvSpPr>
        <p:spPr>
          <a:xfrm>
            <a:off x="3010638" y="4338582"/>
            <a:ext cx="63467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Reports &amp;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Mood Dashboard:</a:t>
            </a:r>
            <a:r>
              <a:rPr lang="en-IN" dirty="0"/>
              <a:t> Visualizes employee sentiment trends with interactive charts.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Anonymous Feedback:</a:t>
            </a:r>
            <a:r>
              <a:rPr lang="en-IN" dirty="0"/>
              <a:t> Displays employee feedback while protecting privacy.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Stress Analytics:</a:t>
            </a:r>
            <a:r>
              <a:rPr lang="en-IN" dirty="0"/>
              <a:t> Shows department-wise stress levels to support HR decision-making.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CEEDC5-86CC-18D4-45D6-47CCD0DE0BCB}"/>
              </a:ext>
            </a:extLst>
          </p:cNvPr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5. BI Dashboards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5. Wellness Dashboard &amp;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463040"/>
            <a:ext cx="4389120" cy="272550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645920"/>
            <a:ext cx="402336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rPr dirty="0"/>
              <a:t>Corporate KPI Diagnostics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Real-Time KPIs:</a:t>
            </a:r>
            <a:r>
              <a:rPr lang="en-IN" dirty="0"/>
              <a:t> Tracks participation, attendance, and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Interactive Charts:</a:t>
            </a:r>
            <a:r>
              <a:rPr lang="en-IN" dirty="0"/>
              <a:t> Visualizes stress levels and wellness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HR Insights:</a:t>
            </a:r>
            <a:r>
              <a:rPr lang="en-IN" dirty="0"/>
              <a:t> Helps management make data-driven wellness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962656"/>
            <a:ext cx="4389120" cy="32552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3169133"/>
            <a:ext cx="4023360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rPr lang="en-US" dirty="0"/>
              <a:t>Predictive Analytics Forecasts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Wellness Forecasting:</a:t>
            </a:r>
            <a:r>
              <a:rPr lang="en-IN" dirty="0"/>
              <a:t> Predicts future employee wellness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Forecast Dashboard:</a:t>
            </a:r>
            <a:r>
              <a:rPr lang="en-IN" dirty="0"/>
              <a:t> Displays wellness predictions using interactive charts.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Role-Based Access:</a:t>
            </a:r>
            <a:r>
              <a:rPr lang="en-IN" dirty="0"/>
              <a:t> Admins view organization-wide data, while employees view their personal health information.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94AAE-D34A-D58B-D83F-03A2271E09B3}"/>
              </a:ext>
            </a:extLst>
          </p:cNvPr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6. AI Chatbot UI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t>6. AI Wellness Chatbot &amp;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371600"/>
            <a:ext cx="3840480" cy="35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rPr dirty="0"/>
              <a:t>Conversational AI Interface</a:t>
            </a:r>
          </a:p>
          <a:p>
            <a:r>
              <a:rPr lang="en-IN" b="1" dirty="0"/>
              <a:t>AI Wellness Chatbot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Interactive Chatbot:</a:t>
            </a:r>
            <a:r>
              <a:rPr lang="en-IN" dirty="0"/>
              <a:t> Provides a simple and user-friendly chat interface.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Smart Assistance:</a:t>
            </a:r>
            <a:r>
              <a:rPr lang="en-IN" dirty="0"/>
              <a:t> Answers wellness questions, schedules checkups, and offers personalized health advice.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Chat Management:</a:t>
            </a:r>
            <a:r>
              <a:rPr lang="en-IN" dirty="0"/>
              <a:t> Saves and allows users to clear chat history when needed.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6B37B7-8350-C788-E40A-680578049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39" y="2432304"/>
            <a:ext cx="5082660" cy="31821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2556E5-B948-D69B-EBF6-013A5889DB86}"/>
              </a:ext>
            </a:extLst>
          </p:cNvPr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901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62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Sentiment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5. 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084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Segoe UI"/>
              </a:defRPr>
            </a:pPr>
            <a:r>
              <a:t>6. AI Chatbot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6144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Conclusion</a:t>
            </a:r>
            <a:r>
              <a:rPr sz="900">
                <a:solidFill>
                  <a:srgbClr val="0EA5E9"/>
                </a:solidFill>
              </a:rPr>
              <a:t>  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"/>
            <a:ext cx="8961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340"/>
                </a:solidFill>
                <a:latin typeface="Segoe UI"/>
              </a:defRPr>
            </a:pPr>
            <a:r>
              <a:rPr dirty="0"/>
              <a:t>Conclusion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19912E05-21BC-56D9-A956-9399D06A6714}"/>
              </a:ext>
            </a:extLst>
          </p:cNvPr>
          <p:cNvSpPr/>
          <p:nvPr/>
        </p:nvSpPr>
        <p:spPr>
          <a:xfrm>
            <a:off x="2594733" y="1225296"/>
            <a:ext cx="5821680" cy="306156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4550DB-B749-CB17-C5AC-82ED03867F3F}"/>
              </a:ext>
            </a:extLst>
          </p:cNvPr>
          <p:cNvSpPr txBox="1"/>
          <p:nvPr/>
        </p:nvSpPr>
        <p:spPr>
          <a:xfrm>
            <a:off x="2662576" y="1536578"/>
            <a:ext cx="5525729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E2340"/>
                </a:solidFill>
                <a:latin typeface="Segoe UI"/>
              </a:defRPr>
            </a:pPr>
            <a:r>
              <a:rPr b="1" dirty="0">
                <a:solidFill>
                  <a:srgbClr val="4F46E5"/>
                </a:solidFill>
                <a:latin typeface="Segoe UI"/>
              </a:rPr>
              <a:t>Key Project Takeaways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Improves employee health and well-being through AI-driven monitoring and recommendations.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Helps HR make informed decisions with real-time analytics and predictive insights.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Enhances productivity and employee engagement using personalized wellness support and an AI chatbot.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endParaRPr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4A3D6F0-E31E-A4B6-99A7-FEE234544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9" y="4389119"/>
            <a:ext cx="4467779" cy="24208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357646-E202-DF10-A6DC-4568DB20B234}"/>
              </a:ext>
            </a:extLst>
          </p:cNvPr>
          <p:cNvSpPr txBox="1"/>
          <p:nvPr/>
        </p:nvSpPr>
        <p:spPr>
          <a:xfrm>
            <a:off x="182880" y="36576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1700" dirty="0"/>
              <a:t>Employee Wellness Management Analytics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979</Words>
  <Application>Microsoft Office PowerPoint</Application>
  <PresentationFormat>Widescreen</PresentationFormat>
  <Paragraphs>172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BHAVYA SAI MADAGANI</cp:lastModifiedBy>
  <cp:revision>5</cp:revision>
  <dcterms:created xsi:type="dcterms:W3CDTF">2013-01-27T09:14:16Z</dcterms:created>
  <dcterms:modified xsi:type="dcterms:W3CDTF">2026-07-20T14:18:27Z</dcterms:modified>
  <cp:category/>
</cp:coreProperties>
</file>